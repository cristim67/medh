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8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dirty="0">
                <a:solidFill>
                  <a:srgbClr val="C8702A"/>
                </a:solidFill>
              </a:rPr>
              <a:t>MEDE · CP0 · FENOMEN ȘI SURSE · SĂPTĂMÂNA 3</a:t>
            </a:r>
            <a:endParaRPr lang="ro-RO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Miloiu Cristi· U19 · Ce spune textul și nu spune satelitul: magnitudinea dezastrelor din rapoarte vs. Sentinel</a:t>
            </a:r>
            <a:endParaRPr lang="ro-RO" sz="17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5544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Întrebarea mea</a:t>
            </a:r>
            <a:endParaRPr lang="ro-RO" sz="110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>
                <a:solidFill>
                  <a:srgbClr val="6B7684"/>
                </a:solidFill>
              </a:rPr>
              <a:t>Pentru evenimentele de dezastru activate în Copernicus EMS în Europa (2017–2025): ce informație despre magnitudine poartă textul raportului și nu o poartă imaginea Sentinel bi-temporală, și invers, iar dezacordul dintre ele e anticipat de incertitudinea textului? (Q19.2 din catalog)</a:t>
            </a:r>
            <a:endParaRPr lang="ro-RO" sz="1050" dirty="0"/>
          </a:p>
        </p:txBody>
      </p:sp>
      <p:sp>
        <p:nvSpPr>
          <p:cNvPr id="5" name="Text 5"/>
          <p:cNvSpPr txBox="1"/>
          <p:nvPr/>
        </p:nvSpPr>
        <p:spPr>
          <a:xfrm>
            <a:off x="548640" y="2880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Unitatea și sursele</a:t>
            </a:r>
            <a:endParaRPr lang="ro-RO" sz="1100" dirty="0"/>
          </a:p>
          <a:p>
            <a:pPr marL="0" indent="0">
              <a:spcAft>
                <a:spcPts val="300"/>
              </a:spcAft>
              <a:buNone/>
            </a:pPr>
            <a:r>
              <a:rPr lang="ro-RO" sz="950" dirty="0">
                <a:solidFill>
                  <a:srgbClr val="6B7684"/>
                </a:solidFill>
              </a:rPr>
              <a:t>Unitatea: un eveniment EMS (un rând = un eveniment, static). Țintă: 300–500 evenimente (inundație, incendiu, furtună), Europa 2017–2025.</a:t>
            </a:r>
            <a:endParaRPr lang="ro-RO" sz="950" dirty="0"/>
          </a:p>
          <a:p>
            <a:pPr marL="0" indent="0">
              <a:spcAft>
                <a:spcPts val="300"/>
              </a:spcAft>
              <a:buNone/>
            </a:pPr>
            <a:r>
              <a:rPr lang="ro-RO" sz="950" dirty="0">
                <a:solidFill>
                  <a:srgbClr val="6B7684"/>
                </a:solidFill>
              </a:rPr>
              <a:t>Text (EMS + GDACS) + Imagine (S1/S2 pre/post din GEE: –60…–10 / +2…+30 zile) + Meteo (ERA5-Land, aceleași ferestre); EM-DAT ca referință.</a:t>
            </a:r>
            <a:endParaRPr lang="ro-RO" sz="95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40050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Cui îi folosește răspunsul</a:t>
            </a:r>
            <a:endParaRPr lang="ro-RO" sz="1100" dirty="0"/>
          </a:p>
          <a:p>
            <a:pPr marL="0" indent="0">
              <a:spcAft>
                <a:spcPts val="300"/>
              </a:spcAft>
              <a:buNone/>
            </a:pPr>
            <a:r>
              <a:rPr lang="ro-RO" sz="950" dirty="0">
                <a:solidFill>
                  <a:srgbClr val="6B7684"/>
                </a:solidFill>
              </a:rPr>
              <a:t>Unui analist de evaluare rapidă a pagubelor (EMS, IGSU): când se încrede în raport și când cere imagine.</a:t>
            </a:r>
            <a:endParaRPr lang="ro-RO" sz="950" dirty="0"/>
          </a:p>
        </p:txBody>
      </p:sp>
      <p:sp>
        <p:nvSpPr>
          <p:cNvPr id="7" name="Shape 7"/>
          <p:cNvSpPr/>
          <p:nvPr/>
        </p:nvSpPr>
        <p:spPr>
          <a:xfrm>
            <a:off x="4663440" y="1554480"/>
            <a:ext cx="3931920" cy="233172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8"/>
          <p:cNvSpPr txBox="1"/>
          <p:nvPr/>
        </p:nvSpPr>
        <p:spPr>
          <a:xfrm>
            <a:off x="4846320" y="1691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Unde am ajuns</a:t>
            </a:r>
            <a:endParaRPr lang="ro-RO" sz="110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b="1" dirty="0">
                <a:solidFill>
                  <a:srgbClr val="1B2A41"/>
                </a:solidFill>
              </a:rPr>
              <a:t>Etapa curentă: </a:t>
            </a:r>
            <a:r>
              <a:rPr lang="ro-RO" sz="1000" dirty="0">
                <a:solidFill>
                  <a:srgbClr val="6B7684"/>
                </a:solidFill>
              </a:rPr>
              <a:t>fenomen și surse (CP0).</a:t>
            </a:r>
            <a:endParaRPr lang="ro-RO" sz="100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b="1" dirty="0">
                <a:solidFill>
                  <a:srgbClr val="1B2A41"/>
                </a:solidFill>
              </a:rPr>
              <a:t>Făcut: </a:t>
            </a:r>
            <a:r>
              <a:rPr lang="ro-RO" sz="1000" dirty="0">
                <a:solidFill>
                  <a:srgbClr val="6B7684"/>
                </a:solidFill>
              </a:rPr>
              <a:t>unitatea U19 aleasă în Choice; întrebarea Q19.2 restrânsă la Europa 2017–2025 și la magnitudine; acces verificat la EMS, GDACS și GEE (capturi pe slide 2); 2 articole-ancoră citite.</a:t>
            </a:r>
            <a:endParaRPr lang="ro-RO" sz="100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b="1" dirty="0">
                <a:solidFill>
                  <a:srgbClr val="1B2A41"/>
                </a:solidFill>
              </a:rPr>
              <a:t>Ce am schimbat față de plan: </a:t>
            </a:r>
            <a:r>
              <a:rPr lang="ro-RO" sz="1000" dirty="0">
                <a:solidFill>
                  <a:srgbClr val="6B7684"/>
                </a:solidFill>
              </a:rPr>
              <a:t>nimic; Q19.1 rămâne acoperită de comparația obligatorie, Q19.3 (România vs. Europa) devine o figură în Discussion, nu o întrebare.</a:t>
            </a:r>
            <a:endParaRPr lang="ro-RO" sz="1000" dirty="0"/>
          </a:p>
        </p:txBody>
      </p:sp>
      <p:sp>
        <p:nvSpPr>
          <p:cNvPr id="9" name="Text 9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dirty="0">
                <a:solidFill>
                  <a:srgbClr val="6B7684"/>
                </a:solidFill>
              </a:rPr>
              <a:t>Slide 1 din 3 · Fișier Moodle: CP0_U19.pdf </a:t>
            </a:r>
            <a:endParaRPr lang="ro-RO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dirty="0">
                <a:solidFill>
                  <a:srgbClr val="C8702A"/>
                </a:solidFill>
              </a:rPr>
              <a:t>DOVADA ETAPEI</a:t>
            </a:r>
            <a:endParaRPr lang="ro-RO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Două surse accesibile și complementare pentru același eveniment: textul raportului EMS și imaginea Sentinel bi-temporală</a:t>
            </a:r>
            <a:endParaRPr lang="ro-RO" sz="1700" dirty="0"/>
          </a:p>
        </p:txBody>
      </p:sp>
      <p:sp>
        <p:nvSpPr>
          <p:cNvPr id="4" name="Shape 4"/>
          <p:cNvSpPr/>
          <p:nvPr/>
        </p:nvSpPr>
        <p:spPr>
          <a:xfrm>
            <a:off x="548640" y="1508760"/>
            <a:ext cx="2487168" cy="347472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 dirty="0"/>
          </a:p>
        </p:txBody>
      </p:sp>
      <p:sp>
        <p:nvSpPr>
          <p:cNvPr id="5" name="Text 5"/>
          <p:cNvSpPr txBox="1"/>
          <p:nvPr/>
        </p:nvSpPr>
        <p:spPr>
          <a:xfrm>
            <a:off x="658368" y="1600200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ro-RO" sz="1050" b="1" dirty="0">
                <a:solidFill>
                  <a:srgbClr val="1B2A41"/>
                </a:solidFill>
              </a:rPr>
              <a:t>Sursa 1 · Text: Copernicus EMS + GDACS</a:t>
            </a:r>
            <a:endParaRPr lang="ro-RO" sz="1050" dirty="0"/>
          </a:p>
          <a:p>
            <a:pPr marL="0" indent="0">
              <a:spcAft>
                <a:spcPts val="200"/>
              </a:spcAft>
              <a:buNone/>
            </a:pPr>
            <a:r>
              <a:rPr lang="ro-RO" sz="850" dirty="0">
                <a:solidFill>
                  <a:srgbClr val="6B7684"/>
                </a:solidFill>
              </a:rPr>
              <a:t>emergency.copernicus.eu/mapping (lista activărilor: ID, dată, tip, AOI, descriere) · gdacs.org (alerte + poligon)</a:t>
            </a:r>
            <a:endParaRPr lang="ro-RO" sz="850" dirty="0"/>
          </a:p>
          <a:p>
            <a:pPr marL="0" indent="0">
              <a:spcAft>
                <a:spcPts val="200"/>
              </a:spcAft>
              <a:buNone/>
            </a:pPr>
            <a:r>
              <a:rPr lang="ro-RO" sz="850" dirty="0">
                <a:solidFill>
                  <a:srgbClr val="6B7684"/>
                </a:solidFill>
              </a:rPr>
              <a:t>Trăsături: TF-IDF, embeddings BGE-M3, câmpuri structurate (tip, cauză, severitate)</a:t>
            </a:r>
            <a:endParaRPr lang="ro-RO" sz="850" dirty="0"/>
          </a:p>
        </p:txBody>
      </p:sp>
      <p:sp>
        <p:nvSpPr>
          <p:cNvPr id="6" name="Shape 6"/>
          <p:cNvSpPr/>
          <p:nvPr/>
        </p:nvSpPr>
        <p:spPr>
          <a:xfrm>
            <a:off x="658368" y="2743200"/>
            <a:ext cx="226771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  <p:txBody>
          <a:bodyPr/>
          <a:lstStyle/>
          <a:p>
            <a:endParaRPr lang="ro-RO"/>
          </a:p>
        </p:txBody>
      </p:sp>
      <p:sp>
        <p:nvSpPr>
          <p:cNvPr id="8" name="Shape 8"/>
          <p:cNvSpPr/>
          <p:nvPr/>
        </p:nvSpPr>
        <p:spPr>
          <a:xfrm>
            <a:off x="3182112" y="1508760"/>
            <a:ext cx="2487168" cy="271272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Text 9"/>
          <p:cNvSpPr txBox="1"/>
          <p:nvPr/>
        </p:nvSpPr>
        <p:spPr>
          <a:xfrm>
            <a:off x="3291840" y="1600200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ro-RO" sz="1050" b="1" dirty="0">
                <a:solidFill>
                  <a:srgbClr val="1B2A41"/>
                </a:solidFill>
              </a:rPr>
              <a:t>Sursa 2 · Imagine: Sentinel-1/2 din GEE</a:t>
            </a:r>
            <a:endParaRPr lang="ro-RO" sz="1050" dirty="0"/>
          </a:p>
          <a:p>
            <a:pPr marL="0" indent="0">
              <a:spcAft>
                <a:spcPts val="200"/>
              </a:spcAft>
              <a:buNone/>
            </a:pPr>
            <a:r>
              <a:rPr lang="ro-RO" sz="850" dirty="0">
                <a:solidFill>
                  <a:srgbClr val="6B7684"/>
                </a:solidFill>
              </a:rPr>
              <a:t>earthengine.google.com · colecții COPERNICUS/S1_GRD și S2_SR_HARMONIZED, compozit median pre/post pe AOI</a:t>
            </a:r>
            <a:endParaRPr lang="ro-RO" sz="850" dirty="0"/>
          </a:p>
          <a:p>
            <a:pPr marL="0" indent="0">
              <a:spcAft>
                <a:spcPts val="200"/>
              </a:spcAft>
              <a:buNone/>
            </a:pPr>
            <a:r>
              <a:rPr lang="ro-RO" sz="850" dirty="0">
                <a:solidFill>
                  <a:srgbClr val="6B7684"/>
                </a:solidFill>
              </a:rPr>
              <a:t>Trăsături: dNDVI, dNBR, dMNDWI, ΔVV/VH, fracție pixeli schimbați, arie</a:t>
            </a:r>
            <a:endParaRPr lang="ro-RO" sz="850" dirty="0"/>
          </a:p>
        </p:txBody>
      </p:sp>
      <p:sp>
        <p:nvSpPr>
          <p:cNvPr id="10" name="Shape 10"/>
          <p:cNvSpPr/>
          <p:nvPr/>
        </p:nvSpPr>
        <p:spPr>
          <a:xfrm>
            <a:off x="3291840" y="2743200"/>
            <a:ext cx="226771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11"/>
          <p:cNvSpPr txBox="1"/>
          <p:nvPr/>
        </p:nvSpPr>
        <p:spPr>
          <a:xfrm>
            <a:off x="3291840" y="274320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ro-RO" sz="800" dirty="0"/>
          </a:p>
        </p:txBody>
      </p:sp>
      <p:sp>
        <p:nvSpPr>
          <p:cNvPr id="12" name="Text 12"/>
          <p:cNvSpPr txBox="1"/>
          <p:nvPr/>
        </p:nvSpPr>
        <p:spPr>
          <a:xfrm>
            <a:off x="3200401" y="4274820"/>
            <a:ext cx="57378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Articole-ancoră</a:t>
            </a:r>
            <a:endParaRPr lang="ro-RO" sz="1100" dirty="0"/>
          </a:p>
          <a:p>
            <a:pPr marL="0" indent="0">
              <a:spcAft>
                <a:spcPts val="300"/>
              </a:spcAft>
              <a:buNone/>
            </a:pPr>
            <a:r>
              <a:rPr lang="ro-RO" sz="900" b="1" dirty="0">
                <a:solidFill>
                  <a:srgbClr val="1B2A41"/>
                </a:solidFill>
              </a:rPr>
              <a:t>Sen1Floods11 (Bonafilia et al., CVPR Workshops 2020) </a:t>
            </a:r>
            <a:r>
              <a:rPr lang="ro-RO" sz="900" dirty="0">
                <a:solidFill>
                  <a:srgbClr val="6B7684"/>
                </a:solidFill>
              </a:rPr>
              <a:t>— set georeferențiat și benchmark pentru inundații din Sentinel-1 pre/post; de aici iau rețeta de extragere a semnăturii satelitare și un set de test cu etichete.</a:t>
            </a:r>
            <a:endParaRPr lang="ro-RO" sz="900" dirty="0"/>
          </a:p>
          <a:p>
            <a:pPr marL="0" indent="0">
              <a:spcAft>
                <a:spcPts val="300"/>
              </a:spcAft>
              <a:buNone/>
            </a:pPr>
            <a:r>
              <a:rPr lang="ro-RO" sz="900" b="1" dirty="0">
                <a:solidFill>
                  <a:srgbClr val="1B2A41"/>
                </a:solidFill>
              </a:rPr>
              <a:t>CrisisMMD (Alam, Ofli, Imran, ICWSM 2018) </a:t>
            </a:r>
            <a:r>
              <a:rPr lang="ro-RO" sz="900" dirty="0">
                <a:solidFill>
                  <a:srgbClr val="6B7684"/>
                </a:solidFill>
              </a:rPr>
              <a:t>— text și imagine pentru aceleași dezastre; arată că modalitățile nu spun același lucru despre pagube, exact ce vreau să măsor între raport și satelit.</a:t>
            </a:r>
            <a:endParaRPr lang="ro-RO" sz="900" dirty="0"/>
          </a:p>
        </p:txBody>
      </p:sp>
      <p:sp>
        <p:nvSpPr>
          <p:cNvPr id="13" name="Text 13"/>
          <p:cNvSpPr txBox="1"/>
          <p:nvPr/>
        </p:nvSpPr>
        <p:spPr>
          <a:xfrm>
            <a:off x="5943600" y="15087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Cum se verifică</a:t>
            </a:r>
            <a:endParaRPr lang="ro-RO" sz="110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Surse: </a:t>
            </a:r>
            <a:r>
              <a:rPr lang="ro-RO" sz="950" dirty="0">
                <a:solidFill>
                  <a:srgbClr val="6B7684"/>
                </a:solidFill>
              </a:rPr>
              <a:t>EMS (2012–2026) + GDACS; S1 GRD (2015–) și S2 SR (2017–) din GEE; ERA5-Land; EM-DAT (cont academic).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Acces: </a:t>
            </a:r>
            <a:r>
              <a:rPr lang="ro-RO" sz="950" dirty="0">
                <a:solidFill>
                  <a:srgbClr val="6B7684"/>
                </a:solidFill>
              </a:rPr>
              <a:t>EMS și GDACS publice, fără cont; GEE cont activ, extracție testată pe 1 poligon; EM-DAT cerere trimisă.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Unitate × pas: </a:t>
            </a:r>
            <a:r>
              <a:rPr lang="ro-RO" sz="950" dirty="0">
                <a:solidFill>
                  <a:srgbClr val="6B7684"/>
                </a:solidFill>
              </a:rPr>
              <a:t>1 eveniment (static) × ~300–500 evenimente estimate înainte de filtrul de nori.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Split: </a:t>
            </a:r>
            <a:r>
              <a:rPr lang="ro-RO" sz="950" dirty="0">
                <a:solidFill>
                  <a:srgbClr val="6B7684"/>
                </a:solidFill>
              </a:rPr>
              <a:t>temporal (LOYO pe anul evenimentului).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Comparația obligatorie: </a:t>
            </a:r>
            <a:r>
              <a:rPr lang="ro-RO" sz="950" dirty="0">
                <a:solidFill>
                  <a:srgbClr val="6B7684"/>
                </a:solidFill>
              </a:rPr>
              <a:t>text vs. imagine vs. ambele (CCA); TF-IDF vs. embeddings multilingve.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Ce înseamnă dovada: </a:t>
            </a:r>
            <a:r>
              <a:rPr lang="ro-RO" sz="950" dirty="0">
                <a:solidFill>
                  <a:srgbClr val="6B7684"/>
                </a:solidFill>
              </a:rPr>
              <a:t>ambele surse se pot descărca pentru același ID de eveniment, deci alinierea pe (poligon, dată) e fezabilă.</a:t>
            </a:r>
            <a:endParaRPr lang="ro-RO" sz="950" dirty="0"/>
          </a:p>
        </p:txBody>
      </p:sp>
      <p:sp>
        <p:nvSpPr>
          <p:cNvPr id="14" name="Text 14"/>
          <p:cNvSpPr txBox="1"/>
          <p:nvPr/>
        </p:nvSpPr>
        <p:spPr>
          <a:xfrm>
            <a:off x="548640" y="47320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o-RO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C7A3EB-A004-606F-BCD2-2C5AD5F25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43200"/>
            <a:ext cx="2249424" cy="2164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B1EB6C-BD3F-6304-95BB-570DCB65F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944" y="2712720"/>
            <a:ext cx="2403504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dirty="0">
                <a:solidFill>
                  <a:srgbClr val="C8702A"/>
                </a:solidFill>
              </a:rPr>
              <a:t>BLOCAJE ȘI URMĂTOARELE DOUĂ SĂPTĂMÂNI</a:t>
            </a:r>
            <a:endParaRPr lang="ro-RO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Riscuri și planul până la CP1</a:t>
            </a:r>
            <a:endParaRPr lang="ro-RO" sz="18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Riscuri (nu am încă blocaje)</a:t>
            </a:r>
            <a:endParaRPr lang="ro-RO" sz="110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1. Nori: </a:t>
            </a:r>
            <a:r>
              <a:rPr lang="ro-RO" sz="950" dirty="0">
                <a:solidFill>
                  <a:srgbClr val="6B7684"/>
                </a:solidFill>
              </a:rPr>
              <a:t>multe evenimente nu vor avea S2 curat în ambele ferestre → S1 (radar) devine imaginea principală, S2 secundară; raportez acoperirea la CP1.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2. Text eterogen: </a:t>
            </a:r>
            <a:r>
              <a:rPr lang="ro-RO" sz="950" dirty="0">
                <a:solidFill>
                  <a:srgbClr val="6B7684"/>
                </a:solidFill>
              </a:rPr>
              <a:t>PDF, limbi diferite, câmpuri lipsă → scraper EMS + GDACS, embeddings multilingve; evenimentele fără AOI sau dată se exclud și se numără.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3. n mic după aliniere: </a:t>
            </a:r>
            <a:r>
              <a:rPr lang="ro-RO" sz="950" dirty="0">
                <a:solidFill>
                  <a:srgbClr val="6B7684"/>
                </a:solidFill>
              </a:rPr>
              <a:t>dacă rămân sub ~200 → extind la 2015–2025 doar cu S1.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1B2A41"/>
                </a:solidFill>
              </a:rPr>
              <a:t>4. A treia reprezentare a textului </a:t>
            </a:r>
            <a:r>
              <a:rPr lang="ro-RO" sz="950" dirty="0">
                <a:solidFill>
                  <a:srgbClr val="6B7684"/>
                </a:solidFill>
              </a:rPr>
              <a:t>(probabilități calibrate, Jev, early access) → condiționată de acces; baseline-ul TF-IDF + BGE rămâne oricum.</a:t>
            </a:r>
            <a:endParaRPr lang="ro-RO" sz="950" dirty="0"/>
          </a:p>
        </p:txBody>
      </p:sp>
      <p:sp>
        <p:nvSpPr>
          <p:cNvPr id="5" name="Shape 5"/>
          <p:cNvSpPr/>
          <p:nvPr/>
        </p:nvSpPr>
        <p:spPr>
          <a:xfrm>
            <a:off x="4663440" y="1554480"/>
            <a:ext cx="3931920" cy="23317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6"/>
          <p:cNvSpPr txBox="1"/>
          <p:nvPr/>
        </p:nvSpPr>
        <p:spPr>
          <a:xfrm>
            <a:off x="4846320" y="16916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FFFFFF"/>
                </a:solidFill>
              </a:rPr>
              <a:t>Planul până la CP1 (săpt. 4)</a:t>
            </a:r>
            <a:endParaRPr lang="ro-RO" sz="110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FFFFFF"/>
                </a:solidFill>
              </a:rPr>
              <a:t>Săptămâna 3: </a:t>
            </a:r>
            <a:r>
              <a:rPr lang="ro-RO" sz="950" dirty="0">
                <a:solidFill>
                  <a:srgbClr val="C9D1DC"/>
                </a:solidFill>
              </a:rPr>
              <a:t>CSV cu toate activările EMS Europa 2017–2025 (ID, dată, tip, țară, AOI, text) + scraper GDACS; data card pentru sursa text.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FFFFFF"/>
                </a:solidFill>
              </a:rPr>
              <a:t>Săptămâna 4: </a:t>
            </a:r>
            <a:r>
              <a:rPr lang="ro-RO" sz="950" dirty="0">
                <a:solidFill>
                  <a:srgbClr val="C9D1DC"/>
                </a:solidFill>
              </a:rPr>
              <a:t>extracție S1/S2 + ERA5 pe 20 de evenimente de test; data card pentru imagine și meteo; tabel SOA cu 10 articole.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FFFFFF"/>
                </a:solidFill>
              </a:rPr>
              <a:t>La CP1 arăt: </a:t>
            </a:r>
            <a:r>
              <a:rPr lang="ro-RO" sz="950" dirty="0">
                <a:solidFill>
                  <a:srgbClr val="C9D1DC"/>
                </a:solidFill>
              </a:rPr>
              <a:t>data card × 3 surse + tabelul aliniat (eveniment × trăsături) + raportul de acoperire (câte evenimente au text, imagine curată și meteo).</a:t>
            </a:r>
            <a:endParaRPr lang="ro-RO" sz="950" dirty="0"/>
          </a:p>
          <a:p>
            <a:pPr marL="0" indent="0">
              <a:spcAft>
                <a:spcPts val="350"/>
              </a:spcAft>
              <a:buNone/>
            </a:pPr>
            <a:r>
              <a:rPr lang="ro-RO" sz="950" b="1" dirty="0">
                <a:solidFill>
                  <a:srgbClr val="FFFFFF"/>
                </a:solidFill>
              </a:rPr>
              <a:t>Comparația obligatorie pe care o pregătesc: </a:t>
            </a:r>
            <a:r>
              <a:rPr lang="ro-RO" sz="950" dirty="0">
                <a:solidFill>
                  <a:srgbClr val="C9D1DC"/>
                </a:solidFill>
              </a:rPr>
              <a:t>text vs. imagine vs. ambele; S1 vs. S2 ca sursă de imagine.</a:t>
            </a:r>
            <a:endParaRPr lang="ro-RO" sz="950" dirty="0"/>
          </a:p>
          <a:p>
            <a:pPr marL="0" indent="0">
              <a:buNone/>
            </a:pPr>
            <a:r>
              <a:rPr lang="ro-RO" sz="950" b="1" dirty="0">
                <a:solidFill>
                  <a:srgbClr val="FFFFFF"/>
                </a:solidFill>
              </a:rPr>
              <a:t>Secțiunea de articol: </a:t>
            </a:r>
            <a:r>
              <a:rPr lang="ro-RO" sz="950" dirty="0">
                <a:solidFill>
                  <a:srgbClr val="C9D1DC"/>
                </a:solidFill>
              </a:rPr>
              <a:t>Data + Related Work.</a:t>
            </a:r>
            <a:endParaRPr lang="ro-RO" sz="950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o-RO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873</Words>
  <Application>Microsoft Macintosh PowerPoint</Application>
  <PresentationFormat>On-screen Show (16:9)</PresentationFormat>
  <Paragraphs>48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Cambria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Cristi-Constantin MILOIU (125827)</cp:lastModifiedBy>
  <cp:revision>8</cp:revision>
  <dcterms:created xsi:type="dcterms:W3CDTF">2026-10-07T14:41:20Z</dcterms:created>
  <dcterms:modified xsi:type="dcterms:W3CDTF">2026-10-13T18:04:14Z</dcterms:modified>
</cp:coreProperties>
</file>