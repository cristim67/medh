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8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0">
                <a:solidFill>
                  <a:srgbClr val="C8702A"/>
                </a:solidFill>
              </a:rPr>
              <a:t>MEDE · CP1 · ALINIERE · SĂPTĂMÂNA 4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7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Miloiu Cristi· U19 · Ce spune textul și nu spune satelitul: magnitudinea dezastrelor din rapoarte vs. Sentinel</a:t>
            </a:r>
            <a:endParaRPr lang="ro-RO" sz="17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5544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Întrebarea mea</a:t>
            </a:r>
            <a:endParaRPr lang="ro-RO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6B7684"/>
                </a:solidFill>
              </a:rPr>
              <a:t>Pentru evenimentele de dezastru activate în Copernicus EMS în Europa (2017–2025): ce informație despre magnitudine poartă textul raportului și nu o poartă imaginea Sentinel bi-temporală, și invers, iar dezacordul dintre ele e anticipat de incertitudinea textului? (Q19.2 din catalog)</a:t>
            </a:r>
            <a:endParaRPr lang="ro-RO" sz="1050" dirty="0"/>
          </a:p>
        </p:txBody>
      </p:sp>
      <p:sp>
        <p:nvSpPr>
          <p:cNvPr id="5" name="Text 5"/>
          <p:cNvSpPr txBox="1"/>
          <p:nvPr/>
        </p:nvSpPr>
        <p:spPr>
          <a:xfrm>
            <a:off x="548640" y="2880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100" b="1">
                <a:solidFill>
                  <a:srgbClr val="1B2A41"/>
                </a:solidFill>
              </a:rPr>
              <a:t>Unitatea și sursele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0">
                <a:solidFill>
                  <a:srgbClr val="6B7684"/>
                </a:solidFill>
              </a:rPr>
              <a:t>Unitatea: o activare EMS (un rând = un eveniment, static). 411 selectate (Europa, 2017–2025: incendii, inundații, furtuni), 391 în nucleul aliniat.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0">
                <a:solidFill>
                  <a:srgbClr val="6B7684"/>
                </a:solidFill>
              </a:rPr>
              <a:t>Text (EMS + GDACS) + Imagine (S1 principal, S2 secundar, din GEE) + Meteo (ERA5-Land, din GEE); magnitudine de referință: suprafața mapată de EMS + EM-DAT.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8640" y="4005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Cui îi folosește răspunsul</a:t>
            </a:r>
            <a:endParaRPr lang="ro-RO" sz="1100" dirty="0"/>
          </a:p>
          <a:p>
            <a:pPr marL="0" indent="0">
              <a:spcAft>
                <a:spcPts val="300"/>
              </a:spcAft>
              <a:buNone/>
            </a:pPr>
            <a:r>
              <a:rPr lang="ro-RO" sz="950" dirty="0">
                <a:solidFill>
                  <a:srgbClr val="6B7684"/>
                </a:solidFill>
              </a:rPr>
              <a:t>Unui analist de evaluare rapidă a pagubelor (EMS, IGSU): când se încrede în raport și când cere imagine.</a:t>
            </a:r>
            <a:endParaRPr lang="ro-RO" sz="950" dirty="0"/>
          </a:p>
        </p:txBody>
      </p:sp>
      <p:sp>
        <p:nvSpPr>
          <p:cNvPr id="7" name="Shape 7"/>
          <p:cNvSpPr/>
          <p:nvPr/>
        </p:nvSpPr>
        <p:spPr>
          <a:xfrm>
            <a:off x="4663440" y="1554480"/>
            <a:ext cx="3931920" cy="233172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8"/>
          <p:cNvSpPr txBox="1"/>
          <p:nvPr/>
        </p:nvSpPr>
        <p:spPr>
          <a:xfrm>
            <a:off x="4846320" y="1691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100" b="1">
                <a:solidFill>
                  <a:srgbClr val="1B2A41"/>
                </a:solidFill>
              </a:rPr>
              <a:t>Unde am ajuns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1B2A41"/>
                </a:solidFill>
              </a:rPr>
              <a:t>Etapa curentă: </a:t>
            </a:r>
            <a:r>
              <a:rPr sz="1000" b="0">
                <a:solidFill>
                  <a:srgbClr val="6B7684"/>
                </a:solidFill>
              </a:rPr>
              <a:t>aliniere (CP1).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1B2A41"/>
                </a:solidFill>
              </a:rPr>
              <a:t>Făcut: </a:t>
            </a:r>
            <a:r>
              <a:rPr sz="1000" b="0">
                <a:solidFill>
                  <a:srgbClr val="6B7684"/>
                </a:solidFill>
              </a:rPr>
              <a:t>pipeline-ul 01–06 rulează pentru toate sursele (EMS, GDACS, S1/S2, ERA5-Land, EM-DAT); tabelul aliniat și raportul de acoperire; matricea X cu scalare pe fold-uri LOYO; data card pe 6 surse; tabel SOA cu 10 articole.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1B2A41"/>
                </a:solidFill>
              </a:rPr>
              <a:t>Ce am schimbat față de plan: </a:t>
            </a:r>
            <a:r>
              <a:rPr sz="1000" b="0">
                <a:solidFill>
                  <a:srgbClr val="6B7684"/>
                </a:solidFill>
              </a:rPr>
              <a:t>extracția GEE pe toate evenimentele, nu pe 20; ERA5 tot din GEE; suprafața mapată de EMS devine a treia vedere a magnitudinii; GDACS rămâne secundar (acoperă slab 2017–2020).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0">
                <a:solidFill>
                  <a:srgbClr val="6B7684"/>
                </a:solidFill>
              </a:rPr>
              <a:t>Slide 1 din 3 · Fișiere Moodle: CP1_U19.pdf + datacard_U19.md · Repo: github.com/cristim67/medh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C8702A"/>
                </a:solidFill>
              </a:rPr>
              <a:t>DOVADA ETAPEI</a:t>
            </a:r>
            <a:endParaRPr lang="ro-RO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0">
                <a:solidFill>
                  <a:srgbClr val="1B2A41"/>
                </a:solidFill>
                <a:latin typeface="Cambria"/>
              </a:rPr>
              <a:t>391 din 411 activări EMS (95%) se aliniază pe text + Sentinel-1 + ERA5; Sentinel-2 clar doar la 49%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00" b="0">
                <a:solidFill>
                  <a:srgbClr val="6B7684"/>
                </a:solidFill>
              </a:rPr>
              <a:t>Detalii complete: CP1/datacard_U19.md (6 fișe) și CP1/soa_U19.md (referințe cu DOI). Acoperirea pe tip și an: reports/coverage.md.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371600"/>
            <a:ext cx="2606040" cy="1417320"/>
          </a:xfrm>
          <a:prstGeom prst="rect">
            <a:avLst/>
          </a:prstGeom>
          <a:solidFill>
            <a:srgbClr val="E9E3D6"/>
          </a:solidFill>
          <a:ln>
            <a:solidFill>
              <a:srgbClr val="E9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35608"/>
            <a:ext cx="242316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B2A41"/>
                </a:solidFill>
              </a:rPr>
              <a:t>Data card pe scurt (n = 411)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EMS: </a:t>
            </a:r>
            <a:r>
              <a:rPr sz="850" b="0">
                <a:solidFill>
                  <a:srgbClr val="6B7684"/>
                </a:solidFill>
              </a:rPr>
              <a:t>text 99% · AOI 98% · suprafață mapată 93%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Sentinel-1: </a:t>
            </a:r>
            <a:r>
              <a:rPr sz="850" b="0">
                <a:solidFill>
                  <a:srgbClr val="6B7684"/>
                </a:solidFill>
              </a:rPr>
              <a:t>10 m, pre/post 97%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Sentinel-2: </a:t>
            </a:r>
            <a:r>
              <a:rPr sz="850" b="0">
                <a:solidFill>
                  <a:srgbClr val="6B7684"/>
                </a:solidFill>
              </a:rPr>
              <a:t>clar 49%; inundații doar 22/140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ERA5-Land: </a:t>
            </a:r>
            <a:r>
              <a:rPr sz="850" b="0">
                <a:solidFill>
                  <a:srgbClr val="6B7684"/>
                </a:solidFill>
              </a:rPr>
              <a:t>0,1°, orar · 97%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GDACS: </a:t>
            </a:r>
            <a:r>
              <a:rPr sz="850" b="0">
                <a:solidFill>
                  <a:srgbClr val="6B7684"/>
                </a:solidFill>
              </a:rPr>
              <a:t>33% (incendii abia din 2021)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EM-DAT: </a:t>
            </a:r>
            <a:r>
              <a:rPr sz="850" b="0">
                <a:solidFill>
                  <a:srgbClr val="6B7684"/>
                </a:solidFill>
              </a:rPr>
              <a:t>33% (la nivel de țară)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371600"/>
            <a:ext cx="2606040" cy="1417320"/>
          </a:xfrm>
          <a:prstGeom prst="rect">
            <a:avLst/>
          </a:prstGeom>
          <a:solidFill>
            <a:srgbClr val="E9E3D6"/>
          </a:solidFill>
          <a:ln>
            <a:solidFill>
              <a:srgbClr val="E9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0420" y="1435608"/>
            <a:ext cx="242316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B2A41"/>
                </a:solidFill>
              </a:rPr>
              <a:t>Matricea X: 391 × 1.321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Imagine 14: </a:t>
            </a:r>
            <a:r>
              <a:rPr sz="850" b="0">
                <a:solidFill>
                  <a:srgbClr val="6B7684"/>
                </a:solidFill>
              </a:rPr>
              <a:t>ΔVV, ΔVH, dNDVI, dNBR, dMNDWI, fracții și arii schimbate, claritate S2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Meteo 4: </a:t>
            </a:r>
            <a:r>
              <a:rPr sz="850" b="0">
                <a:solidFill>
                  <a:srgbClr val="6B7684"/>
                </a:solidFill>
              </a:rPr>
              <a:t>precipitații eveniment / antecedente, Tmax, vânt maxim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Text ~1.303: </a:t>
            </a:r>
            <a:r>
              <a:rPr sz="850" b="0">
                <a:solidFill>
                  <a:srgbClr val="6B7684"/>
                </a:solidFill>
              </a:rPr>
              <a:t>TF-IDF 1–2-grame (BGE-M3 la CP2)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Scalare: </a:t>
            </a:r>
            <a:r>
              <a:rPr sz="850" b="0">
                <a:solidFill>
                  <a:srgbClr val="6B7684"/>
                </a:solidFill>
              </a:rPr>
              <a:t>log1p + z pe arii și ploi, z pe rest, L2 pe text; fit doar pe 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371600"/>
            <a:ext cx="2606040" cy="1417320"/>
          </a:xfrm>
          <a:prstGeom prst="rect">
            <a:avLst/>
          </a:prstGeom>
          <a:solidFill>
            <a:srgbClr val="E9E3D6"/>
          </a:solidFill>
          <a:ln>
            <a:solidFill>
              <a:srgbClr val="E9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435608"/>
            <a:ext cx="242316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B2A41"/>
                </a:solidFill>
              </a:rPr>
              <a:t>Cum se verifică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Repo: </a:t>
            </a:r>
            <a:r>
              <a:rPr sz="850" b="0">
                <a:solidFill>
                  <a:srgbClr val="6B7684"/>
                </a:solidFill>
              </a:rPr>
              <a:t>github.com/cristim67/medh, pipeline 01–06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Date: </a:t>
            </a:r>
            <a:r>
              <a:rPr sz="850" b="0">
                <a:solidFill>
                  <a:srgbClr val="6B7684"/>
                </a:solidFill>
              </a:rPr>
              <a:t>EMS API (20.10.2026), S1 GRD + S2 SR (GEE), ERA5-Land, EM-DAT (19.10.2026)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Split: </a:t>
            </a:r>
            <a:r>
              <a:rPr sz="850" b="0">
                <a:solidFill>
                  <a:srgbClr val="6B7684"/>
                </a:solidFill>
              </a:rPr>
              <a:t>LOYO, 9 fold-uri (2017–2025)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</a:rPr>
              <a:t>Ce înseamnă: </a:t>
            </a:r>
            <a:r>
              <a:rPr sz="850" b="0">
                <a:solidFill>
                  <a:srgbClr val="6B7684"/>
                </a:solidFill>
              </a:rPr>
              <a:t>analiza se poate face pe un nucleu de ~390 evenimente; S2 rămâne pe subset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2880360"/>
          <a:ext cx="8046720" cy="18608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2103120"/>
                <a:gridCol w="2011680"/>
                <a:gridCol w="214884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SOA: articol</a:t>
                      </a:r>
                    </a:p>
                  </a:txBody>
                  <a:tcPr marL="36576" marR="36576" marT="9144" marB="9144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Surse</a:t>
                      </a:r>
                    </a:p>
                  </a:txBody>
                  <a:tcPr marL="36576" marR="36576" marT="9144" marB="9144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Metodă de explorare</a:t>
                      </a:r>
                    </a:p>
                  </a:txBody>
                  <a:tcPr marL="36576" marR="36576" marT="9144" marB="9144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</a:rPr>
                        <a:t>Metrică → rezultat</a:t>
                      </a:r>
                    </a:p>
                  </a:txBody>
                  <a:tcPr marL="36576" marR="36576" marT="9144" marB="9144" anchor="ctr">
                    <a:solidFill>
                      <a:srgbClr val="1B2A41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CrisisMMD (ICWSM 2018)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tweet-uri text + imagine, 7 dezastre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adnotare crowdsourcing, 3 sarcini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imaginea poartă mai multă informație despre daune decât textul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Sen1Floods11 (CVPRW 2020)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Sentinel-1, etichete S2, 11 inundații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FCNN vs. prag Otsu pe VH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IoU inundație 0,339 vs. 0,285 (Otsu)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Deep CCA (ICML 2013)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două vederi: MNIST, XRMB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CCA neliniar vs. CCA liniar și KCCA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corelație canonică 39,7 vs. 28,0 (CCA, MNIST)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MMFlood (IEEE Access 2022)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Sentinel-1 + DEM; hărți EMS ca adevăr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segmentare multi-encoder SAR + DEM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mIoU 0,63 → peste 0,66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WorldFloods v2 (Sci. Rep. 2023)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Sentinel-2, Landsat; hărți EMS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U-Net nori/apă vs. prag MNDWI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impact Pakistan 2022: ~10 M oameni, 25.000 km²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CaBuAr (IEEE GRSM 2023)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Sentinel-2 pre/post, perimetre CAL FIRE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dNBR + Otsu vs. U-Net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F1 0,114 (dNBR) vs. 0,707 (U-Net)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BGE-M3 (Findings ACL 2024)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MIRACL (18 limbi), MKQA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embeddings dense / sparse / multi-vector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nDCG@10 71,5 vs. 31,9 (BM25)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Kuro Siwo (NeurIPS 2024)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serii S1, 43 inundații, adnotare experți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segmentare + change detection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F1 80,1%; un caz: CEMS vs. experți IoU 48%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MONITRS (NeurIPS 2025)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10.000+ evenimente, S2, text din știri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aliniere text–imagine, fine-tuning MLLM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clasificare 88,7% vs. ~50% (baseline)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</a:rPr>
                        <a:t>3M (arXiv 2025)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tweet-uri EN/JA, S2; USGS MMI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MLLM: nivel de daune din text + imagine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6B7684"/>
                          </a:solidFill>
                        </a:rPr>
                        <a:t>r = 0,78 cu intensitatea măsurată</a:t>
                      </a:r>
                    </a:p>
                  </a:txBody>
                  <a:tcPr marL="36576" marR="36576" marT="9144" marB="9144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>
                <a:solidFill>
                  <a:srgbClr val="C8702A"/>
                </a:solidFill>
              </a:rPr>
              <a:t>BLOCAJE ȘI URMĂTOARELE DOUĂ SĂPTĂMÂNI</a:t>
            </a:r>
            <a:endParaRPr lang="ro-RO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0">
                <a:solidFill>
                  <a:srgbClr val="1B2A41"/>
                </a:solidFill>
                <a:latin typeface="Cambria"/>
              </a:rPr>
              <a:t>Riscuri și planul până la CP2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100" b="1">
                <a:solidFill>
                  <a:srgbClr val="1B2A41"/>
                </a:solidFill>
              </a:rPr>
              <a:t>Blocaje și riscuri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1B2A41"/>
                </a:solidFill>
              </a:rPr>
              <a:t>1. Nori: </a:t>
            </a:r>
            <a:r>
              <a:rPr sz="950" b="0">
                <a:solidFill>
                  <a:srgbClr val="6B7684"/>
                </a:solidFill>
              </a:rPr>
              <a:t>Sentinel-2 clar doar la 49% (inundații 22/140). S1 rămâne imaginea principală; S1 vs. S2 se compară doar pe subsetul cu ambele.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1B2A41"/>
                </a:solidFill>
              </a:rPr>
              <a:t>2. Referința de magnitudine e parțială: </a:t>
            </a:r>
            <a:r>
              <a:rPr sz="950" b="0">
                <a:solidFill>
                  <a:srgbClr val="6B7684"/>
                </a:solidFill>
              </a:rPr>
              <a:t>EM-DAT la 137/411 (lipsesc incendiile mici), populația EMS doar din 2023. Referința principală = suprafața mapată de EMS (382/411).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1B2A41"/>
                </a:solidFill>
              </a:rPr>
              <a:t>3. Data evenimentului: </a:t>
            </a:r>
            <a:r>
              <a:rPr sz="950" b="0">
                <a:solidFill>
                  <a:srgbClr val="6B7684"/>
                </a:solidFill>
              </a:rPr>
              <a:t>înainte de 2023 EMS dă doar data activării (până la ~9 zile după eveniment) → extrag data din text.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1B2A41"/>
                </a:solidFill>
              </a:rPr>
              <a:t>4. Leakage: </a:t>
            </a:r>
            <a:r>
              <a:rPr sz="950" b="0">
                <a:solidFill>
                  <a:srgbClr val="6B7684"/>
                </a:solidFill>
              </a:rPr>
              <a:t>suprafața EMS e derivată din imagini → e referință, nu intră în X.</a:t>
            </a:r>
          </a:p>
        </p:txBody>
      </p:sp>
      <p:sp>
        <p:nvSpPr>
          <p:cNvPr id="5" name="Shape 5"/>
          <p:cNvSpPr/>
          <p:nvPr/>
        </p:nvSpPr>
        <p:spPr>
          <a:xfrm>
            <a:off x="4663440" y="1554480"/>
            <a:ext cx="3931920" cy="23317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6"/>
          <p:cNvSpPr txBox="1"/>
          <p:nvPr/>
        </p:nvSpPr>
        <p:spPr>
          <a:xfrm>
            <a:off x="4846320" y="16916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Planul până la CP2 (săpt. 6)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Săptămâna 5: </a:t>
            </a:r>
            <a:r>
              <a:rPr sz="950" b="0">
                <a:solidFill>
                  <a:srgbClr val="C9D1DC"/>
                </a:solidFill>
              </a:rPr>
              <a:t>embeddings BGE-M3 pe text; data evenimentului din text; analiza uni/bivariată pe X (distribuții, corelații text–imagine–meteo).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Săptămâna 6: </a:t>
            </a:r>
            <a:r>
              <a:rPr sz="950" b="0">
                <a:solidFill>
                  <a:srgbClr val="C9D1DC"/>
                </a:solidFill>
              </a:rPr>
              <a:t>PCA pe fiecare fold LOYO (scree, loadings); alternativa declarată: CCA text ↔ imagine; protocolul și metricile de reprezentare.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La CP2 arăt: </a:t>
            </a:r>
            <a:r>
              <a:rPr sz="950" b="0">
                <a:solidFill>
                  <a:srgbClr val="C9D1DC"/>
                </a:solidFill>
              </a:rPr>
              <a:t>matricea X documentată, scree + loadings, metricile baseline-ului PCA pe LOYO.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Comparații pregătite: </a:t>
            </a:r>
            <a:r>
              <a:rPr sz="950" b="0">
                <a:solidFill>
                  <a:srgbClr val="C9D1DC"/>
                </a:solidFill>
              </a:rPr>
              <a:t>TF-IDF vs. BGE-M3; S1 vs. S2.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Secțiunea de articol: </a:t>
            </a:r>
            <a:r>
              <a:rPr sz="950" b="0">
                <a:solidFill>
                  <a:srgbClr val="C9D1DC"/>
                </a:solidFill>
              </a:rPr>
              <a:t>Methods (trăsături).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873</Words>
  <Application>Microsoft Macintosh PowerPoint</Application>
  <PresentationFormat>On-screen Show (16:9)</PresentationFormat>
  <Paragraphs>48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Cambria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Cristi-Constantin MILOIU (125827)</cp:lastModifiedBy>
  <cp:revision>8</cp:revision>
  <dcterms:created xsi:type="dcterms:W3CDTF">2026-10-07T14:41:20Z</dcterms:created>
  <dcterms:modified xsi:type="dcterms:W3CDTF">2026-10-13T18:04:14Z</dcterms:modified>
</cp:coreProperties>
</file>